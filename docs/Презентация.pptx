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63" r:id="rId10"/>
    <p:sldId id="277" r:id="rId11"/>
    <p:sldId id="278" r:id="rId12"/>
    <p:sldId id="275" r:id="rId13"/>
    <p:sldId id="276" r:id="rId14"/>
    <p:sldId id="265" r:id="rId15"/>
    <p:sldId id="266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4C0F17-27AD-497A-A968-A265E744F0AA}">
  <a:tblStyle styleId="{7D4C0F17-27AD-497A-A968-A265E744F0A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f98075b25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f98075b25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573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E55D96D-1DEE-9F16-A81B-305CE28C6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>
            <a:extLst>
              <a:ext uri="{FF2B5EF4-FFF2-40B4-BE49-F238E27FC236}">
                <a16:creationId xmlns:a16="http://schemas.microsoft.com/office/drawing/2014/main" id="{87695A49-13F1-4D03-1008-F92D05C948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>
            <a:extLst>
              <a:ext uri="{FF2B5EF4-FFF2-40B4-BE49-F238E27FC236}">
                <a16:creationId xmlns:a16="http://schemas.microsoft.com/office/drawing/2014/main" id="{83FA0FA8-A1BC-2E0B-BF1C-1F600FAE62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18142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DCB749E-EA8A-10E9-FB9E-75376F0A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>
            <a:extLst>
              <a:ext uri="{FF2B5EF4-FFF2-40B4-BE49-F238E27FC236}">
                <a16:creationId xmlns:a16="http://schemas.microsoft.com/office/drawing/2014/main" id="{E8264378-6A86-D544-B97F-5253B91D70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>
            <a:extLst>
              <a:ext uri="{FF2B5EF4-FFF2-40B4-BE49-F238E27FC236}">
                <a16:creationId xmlns:a16="http://schemas.microsoft.com/office/drawing/2014/main" id="{5E0C7AE1-6EC7-FE4E-BA0B-2C9F316940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47348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82159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75520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Архитектор 1С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 слышно?</a:t>
            </a:r>
            <a:endParaRPr sz="4000"/>
          </a:p>
        </p:txBody>
      </p:sp>
      <p:pic>
        <p:nvPicPr>
          <p:cNvPr id="76" name="Google Shape;76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500550" y="8212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lvl="0">
              <a:buSzPts val="1100"/>
            </a:pPr>
            <a:r>
              <a:rPr lang="ru" sz="3000" dirty="0"/>
              <a:t>Тема: «</a:t>
            </a:r>
            <a:r>
              <a:rPr lang="ru-RU" sz="2800" dirty="0"/>
              <a:t>Организация системы лояльности на предприятии (скидочные карты, накопительные скидки</a:t>
            </a:r>
            <a:r>
              <a:rPr lang="ru-RU" sz="3000" dirty="0"/>
              <a:t>»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85" name="Google Shape;85;p18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2418B"/>
                </a:solidFill>
              </a:rPr>
              <a:t>Колотин Р</a:t>
            </a:r>
            <a:r>
              <a:rPr lang="ru-RU" dirty="0">
                <a:solidFill>
                  <a:srgbClr val="02418B"/>
                </a:solidFill>
              </a:rPr>
              <a:t>у</a:t>
            </a:r>
            <a:r>
              <a:rPr lang="ru" dirty="0">
                <a:solidFill>
                  <a:srgbClr val="02418B"/>
                </a:solidFill>
              </a:rPr>
              <a:t>слан Вячеславович</a:t>
            </a:r>
            <a:endParaRPr dirty="0">
              <a:solidFill>
                <a:srgbClr val="02418B"/>
              </a:solidFill>
            </a:endParaRPr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dirty="0"/>
              <a:t>Ведущий разработчик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dirty="0"/>
              <a:t>АО «Инвест Альянс»</a:t>
            </a: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/>
        </p:nvSpPr>
        <p:spPr>
          <a:xfrm>
            <a:off x="559075" y="342525"/>
            <a:ext cx="65181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План защиты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9"/>
          <p:cNvSpPr/>
          <p:nvPr/>
        </p:nvSpPr>
        <p:spPr>
          <a:xfrm>
            <a:off x="696923" y="1099674"/>
            <a:ext cx="2589300" cy="38370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Цели проекта </a:t>
            </a:r>
            <a:endParaRPr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696923" y="1729587"/>
            <a:ext cx="2589300" cy="38370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Что планировалось</a:t>
            </a:r>
            <a:endParaRPr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19"/>
          <p:cNvSpPr/>
          <p:nvPr/>
        </p:nvSpPr>
        <p:spPr>
          <a:xfrm>
            <a:off x="696923" y="2369806"/>
            <a:ext cx="2589300" cy="38370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Используемые технологии</a:t>
            </a:r>
            <a:endParaRPr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" name="Google Shape;95;p19"/>
          <p:cNvSpPr/>
          <p:nvPr/>
        </p:nvSpPr>
        <p:spPr>
          <a:xfrm>
            <a:off x="696923" y="3010040"/>
            <a:ext cx="2589300" cy="38370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" name="Google Shape;96;p19"/>
          <p:cNvSpPr/>
          <p:nvPr/>
        </p:nvSpPr>
        <p:spPr>
          <a:xfrm>
            <a:off x="696923" y="3608285"/>
            <a:ext cx="2589300" cy="38370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Схемы/архитектура</a:t>
            </a:r>
            <a:endParaRPr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" name="Google Shape;97;p19"/>
          <p:cNvSpPr/>
          <p:nvPr/>
        </p:nvSpPr>
        <p:spPr>
          <a:xfrm>
            <a:off x="696923" y="4206531"/>
            <a:ext cx="2589300" cy="38370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" name="Google Shape;98;p19"/>
          <p:cNvCxnSpPr>
            <a:stCxn id="92" idx="1"/>
            <a:endCxn id="93" idx="1"/>
          </p:cNvCxnSpPr>
          <p:nvPr/>
        </p:nvCxnSpPr>
        <p:spPr>
          <a:xfrm>
            <a:off x="696923" y="1291524"/>
            <a:ext cx="600" cy="630000"/>
          </a:xfrm>
          <a:prstGeom prst="curvedConnector3">
            <a:avLst>
              <a:gd name="adj1" fmla="val -39687500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9" name="Google Shape;99;p19"/>
          <p:cNvCxnSpPr>
            <a:stCxn id="93" idx="1"/>
            <a:endCxn id="94" idx="1"/>
          </p:cNvCxnSpPr>
          <p:nvPr/>
        </p:nvCxnSpPr>
        <p:spPr>
          <a:xfrm>
            <a:off x="696923" y="1921437"/>
            <a:ext cx="600" cy="640200"/>
          </a:xfrm>
          <a:prstGeom prst="curvedConnector3">
            <a:avLst>
              <a:gd name="adj1" fmla="val -39687500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" name="Google Shape;100;p19"/>
          <p:cNvCxnSpPr>
            <a:stCxn id="94" idx="1"/>
            <a:endCxn id="95" idx="1"/>
          </p:cNvCxnSpPr>
          <p:nvPr/>
        </p:nvCxnSpPr>
        <p:spPr>
          <a:xfrm>
            <a:off x="696923" y="2561656"/>
            <a:ext cx="600" cy="640200"/>
          </a:xfrm>
          <a:prstGeom prst="curvedConnector3">
            <a:avLst>
              <a:gd name="adj1" fmla="val -39687500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1" name="Google Shape;101;p19"/>
          <p:cNvCxnSpPr/>
          <p:nvPr/>
        </p:nvCxnSpPr>
        <p:spPr>
          <a:xfrm>
            <a:off x="696923" y="3232828"/>
            <a:ext cx="600" cy="640200"/>
          </a:xfrm>
          <a:prstGeom prst="curvedConnector3">
            <a:avLst>
              <a:gd name="adj1" fmla="val -39687500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9"/>
          <p:cNvCxnSpPr/>
          <p:nvPr/>
        </p:nvCxnSpPr>
        <p:spPr>
          <a:xfrm>
            <a:off x="696923" y="3903996"/>
            <a:ext cx="600" cy="640200"/>
          </a:xfrm>
          <a:prstGeom prst="curvedConnector3">
            <a:avLst>
              <a:gd name="adj1" fmla="val -39687500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/>
        </p:nvSpPr>
        <p:spPr>
          <a:xfrm>
            <a:off x="494775" y="455606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Цели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" name="Google Shape;108;p20"/>
          <p:cNvGraphicFramePr/>
          <p:nvPr>
            <p:extLst>
              <p:ext uri="{D42A27DB-BD31-4B8C-83A1-F6EECF244321}">
                <p14:modId xmlns:p14="http://schemas.microsoft.com/office/powerpoint/2010/main" val="746036615"/>
              </p:ext>
            </p:extLst>
          </p:nvPr>
        </p:nvGraphicFramePr>
        <p:xfrm>
          <a:off x="952500" y="2058925"/>
          <a:ext cx="7239000" cy="1231494"/>
        </p:xfrm>
        <a:graphic>
          <a:graphicData uri="http://schemas.openxmlformats.org/drawingml/2006/table">
            <a:tbl>
              <a:tblPr>
                <a:noFill/>
                <a:tableStyleId>{7D4C0F17-27AD-497A-A968-A265E744F0AA}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Закрепить и продемонстрировать полученные знания и навыки;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Отработать навыки создания ТЗ и прототипов разработки;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Добавить кейс в портфолио для работодателя.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Что планировалось</a:t>
            </a:r>
            <a:endParaRPr sz="3000"/>
          </a:p>
        </p:txBody>
      </p:sp>
      <p:graphicFrame>
        <p:nvGraphicFramePr>
          <p:cNvPr id="115" name="Google Shape;115;p21"/>
          <p:cNvGraphicFramePr/>
          <p:nvPr>
            <p:extLst>
              <p:ext uri="{D42A27DB-BD31-4B8C-83A1-F6EECF244321}">
                <p14:modId xmlns:p14="http://schemas.microsoft.com/office/powerpoint/2010/main" val="1888784408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{7D4C0F17-27AD-497A-A968-A265E744F0AA}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Научиться создавать описание архитектуры продукта;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Изучение основ создания прототипов, моделирования, артефактов проекта;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Изучение новых технологий.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Используемые технологии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22" name="Google Shape;122;p22"/>
          <p:cNvGraphicFramePr/>
          <p:nvPr>
            <p:extLst>
              <p:ext uri="{D42A27DB-BD31-4B8C-83A1-F6EECF244321}">
                <p14:modId xmlns:p14="http://schemas.microsoft.com/office/powerpoint/2010/main" val="4015183686"/>
              </p:ext>
            </p:extLst>
          </p:nvPr>
        </p:nvGraphicFramePr>
        <p:xfrm>
          <a:off x="952500" y="1544194"/>
          <a:ext cx="7239000" cy="1397216"/>
        </p:xfrm>
        <a:graphic>
          <a:graphicData uri="http://schemas.openxmlformats.org/drawingml/2006/table">
            <a:tbl>
              <a:tblPr>
                <a:noFill/>
                <a:tableStyleId>{7D4C0F17-27AD-497A-A968-A265E744F0AA}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;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1С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lang="ru-RU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3131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pic>
        <p:nvPicPr>
          <p:cNvPr id="129" name="Google Shape;129;p23"/>
          <p:cNvPicPr preferRelativeResize="0"/>
          <p:nvPr/>
        </p:nvPicPr>
        <p:blipFill rotWithShape="1">
          <a:blip r:embed="rId3">
            <a:alphaModFix/>
          </a:blip>
          <a:srcRect l="24132" t="28362" r="21540" b="5830"/>
          <a:stretch/>
        </p:blipFill>
        <p:spPr>
          <a:xfrm>
            <a:off x="5181950" y="1264350"/>
            <a:ext cx="3602048" cy="290809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22;p22">
            <a:extLst>
              <a:ext uri="{FF2B5EF4-FFF2-40B4-BE49-F238E27FC236}">
                <a16:creationId xmlns:a16="http://schemas.microsoft.com/office/drawing/2014/main" id="{3F69342F-838B-2285-E61F-3000331DCD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6692772"/>
              </p:ext>
            </p:extLst>
          </p:nvPr>
        </p:nvGraphicFramePr>
        <p:xfrm>
          <a:off x="500550" y="1426624"/>
          <a:ext cx="4543890" cy="2217690"/>
        </p:xfrm>
        <a:graphic>
          <a:graphicData uri="http://schemas.openxmlformats.org/drawingml/2006/table">
            <a:tbl>
              <a:tblPr>
                <a:noFill/>
                <a:tableStyleId>{7D4C0F17-27AD-497A-A968-A265E744F0AA}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4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схемы и прототипы проекта;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Разработан функционал 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MVP </a:t>
                      </a: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продукта;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Реализована симуляция работы с брокером сообщений (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);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Подготовлены сценарии тестирования (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VA)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и юнит-тесты;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31317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Создан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git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репозитарий.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627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6373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Схемы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CABD1E-4A5A-8FF9-419D-60A66F805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1089887"/>
            <a:ext cx="7767798" cy="31293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CAC610A-7C51-A94E-5ED1-BCAE424FF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>
            <a:extLst>
              <a:ext uri="{FF2B5EF4-FFF2-40B4-BE49-F238E27FC236}">
                <a16:creationId xmlns:a16="http://schemas.microsoft.com/office/drawing/2014/main" id="{A3833619-D6B3-91D3-8F8A-2BB833F7A8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1912" y="51528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Схемы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3197DF-69A4-08C8-7230-6F5AC31B3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7402"/>
            <a:ext cx="9144000" cy="19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66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F4272D9-492D-259B-D065-34A9E322D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>
            <a:extLst>
              <a:ext uri="{FF2B5EF4-FFF2-40B4-BE49-F238E27FC236}">
                <a16:creationId xmlns:a16="http://schemas.microsoft.com/office/drawing/2014/main" id="{E934C34E-45C0-8F6A-770F-8C338D2848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1912" y="51528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Схемы</a:t>
            </a:r>
            <a:endParaRPr sz="3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352C31-D180-6356-AB23-E79A647C1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3999"/>
            <a:ext cx="9144000" cy="446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6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Прототипы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82801D-68D7-2129-E8C1-834E7389F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18896"/>
            <a:ext cx="9144000" cy="365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78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70" name="Google Shape;70;p1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Демонстрация</a:t>
            </a:r>
          </a:p>
        </p:txBody>
      </p:sp>
    </p:spTree>
    <p:extLst>
      <p:ext uri="{BB962C8B-B14F-4D97-AF65-F5344CB8AC3E}">
        <p14:creationId xmlns:p14="http://schemas.microsoft.com/office/powerpoint/2010/main" val="2006872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 и планы по развитию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42" name="Google Shape;142;p25"/>
          <p:cNvGraphicFramePr/>
          <p:nvPr>
            <p:extLst>
              <p:ext uri="{D42A27DB-BD31-4B8C-83A1-F6EECF244321}">
                <p14:modId xmlns:p14="http://schemas.microsoft.com/office/powerpoint/2010/main" val="676586719"/>
              </p:ext>
            </p:extLst>
          </p:nvPr>
        </p:nvGraphicFramePr>
        <p:xfrm>
          <a:off x="952500" y="1544194"/>
          <a:ext cx="7239000" cy="1275750"/>
        </p:xfrm>
        <a:graphic>
          <a:graphicData uri="http://schemas.openxmlformats.org/drawingml/2006/table">
            <a:tbl>
              <a:tblPr>
                <a:noFill/>
                <a:tableStyleId>{7D4C0F17-27AD-497A-A968-A265E744F0AA}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Применение полученных знаний на практике;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Внедрение технологий в знаний в процессы компании;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013D85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013D8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Продолжение изучения инструментов, применимых для использования командой.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Спасибо за внимание!</a:t>
            </a:r>
            <a:br>
              <a:rPr lang="ru" sz="5000" b="0"/>
            </a:br>
            <a:endParaRPr sz="4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890</TotalTime>
  <Words>223</Words>
  <Application>Microsoft Office PowerPoint</Application>
  <PresentationFormat>Экран (16:9)</PresentationFormat>
  <Paragraphs>64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Roboto</vt:lpstr>
      <vt:lpstr>Arial</vt:lpstr>
      <vt:lpstr>Courier New</vt:lpstr>
      <vt:lpstr>Светлая тема</vt:lpstr>
      <vt:lpstr>Архитектор 1С</vt:lpstr>
      <vt:lpstr>Меня хорошо видно &amp; слышно?</vt:lpstr>
      <vt:lpstr>Защита проекта Тема: «Организация системы лояльности на предприятии (скидочные карты, накопительные скидки» </vt:lpstr>
      <vt:lpstr>Презентация PowerPoint</vt:lpstr>
      <vt:lpstr>Презентация PowerPoint</vt:lpstr>
      <vt:lpstr>Что планировалось</vt:lpstr>
      <vt:lpstr>Используемые технологии </vt:lpstr>
      <vt:lpstr>Что получилось</vt:lpstr>
      <vt:lpstr>Схемы</vt:lpstr>
      <vt:lpstr>Схемы</vt:lpstr>
      <vt:lpstr>Схемы</vt:lpstr>
      <vt:lpstr>Прототипы</vt:lpstr>
      <vt:lpstr>Демонстрация</vt:lpstr>
      <vt:lpstr>Выводы и планы по развитию </vt:lpstr>
      <vt:lpstr>Спасибо за внимание!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Руслан Колотин</dc:creator>
  <cp:lastModifiedBy>Руслан Колотин</cp:lastModifiedBy>
  <cp:revision>11</cp:revision>
  <dcterms:modified xsi:type="dcterms:W3CDTF">2026-06-06T07:49:01Z</dcterms:modified>
</cp:coreProperties>
</file>